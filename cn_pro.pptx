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embeddedFontLs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Sora Light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683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945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93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5185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7489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04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84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187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9.pn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58308" y="1884997"/>
            <a:ext cx="11623743" cy="2850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         </a:t>
            </a:r>
            <a:r>
              <a:rPr lang="en-US" sz="36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 Enterprise-Grade Secure Network Architecture with  Active Threat Defense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7371" y="3619226"/>
            <a:ext cx="7627382" cy="363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1. Binoy Dev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ID: 0222310005101088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2.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Muskan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7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ID: 0222410005101113</a:t>
            </a:r>
          </a:p>
          <a:p>
            <a:pPr marL="0" indent="0" algn="l">
              <a:lnSpc>
                <a:spcPts val="27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58309" y="5997893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918216"/>
            <a:ext cx="131137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             </a:t>
            </a:r>
            <a:r>
              <a:rPr lang="en-US" sz="32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Real‑Life Scenario — Everyday Dependence on Networks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3491627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244328" y="4428768"/>
            <a:ext cx="27047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Financial Systems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2244328" y="4914900"/>
            <a:ext cx="270474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Low latency and integrity are essential for transactions and fraud detection.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705838" y="4428768"/>
            <a:ext cx="27047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Healthcare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6705838" y="4914900"/>
            <a:ext cx="2704743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Remote diagnostics and EHR access demand availability and confidentiality.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1167348" y="4428768"/>
            <a:ext cx="2704743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Remote Work &amp; Education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167348" y="5271135"/>
            <a:ext cx="2704743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Real‑time collaboration requires predictable throughput and QoS.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99016" y="645200"/>
            <a:ext cx="11241972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Why Speed and Reliability Matter</a:t>
            </a:r>
            <a:endParaRPr lang="en-US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99016" y="1446967"/>
            <a:ext cx="7745968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The network is the backbone of modern life — supporting economic activity, safety, and innovation. Performance shortfalls lead to transaction failures, delayed care, and degraded user experience.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016" y="2575203"/>
            <a:ext cx="499229" cy="49922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28393" y="2575203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Banking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428393" y="3013948"/>
            <a:ext cx="7016591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Millisecond latencies for transaction validation and anti‑fraud analytics.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016" y="3996333"/>
            <a:ext cx="499229" cy="49922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428393" y="3996333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Healthcare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428393" y="4435078"/>
            <a:ext cx="7016591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Secure channels and guaranteed delivery for telehealth and device telemetry.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016" y="5417463"/>
            <a:ext cx="499229" cy="49922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28393" y="5417463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Remote Work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428393" y="5856208"/>
            <a:ext cx="7016591" cy="307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Consistent throughput and low jitter for real‑time collaboration tools.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016" y="6531531"/>
            <a:ext cx="499229" cy="49922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28393" y="6531531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E‑commerce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428393" y="6970276"/>
            <a:ext cx="7016591" cy="614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High availability during traffic spikes to avoid revenue loss and cart abandonment.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226675" y="512445"/>
            <a:ext cx="7455456" cy="409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Threat Landscape — Realistic Attack Vectors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029967" y="1114278"/>
            <a:ext cx="8054102" cy="428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ISP‑scale networks face a broad spectrum of threats: distributed automated botnets, volumetric floods, targeted credential attacks, rogue local access points, and lateral movement after compromise.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216" y="1614488"/>
            <a:ext cx="7507486" cy="57922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92689" y="4011800"/>
            <a:ext cx="1309350" cy="945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Network Attack Surface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680749" y="5842428"/>
            <a:ext cx="1947890" cy="63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Rogue WiFi Attacker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80749" y="6557979"/>
            <a:ext cx="1947890" cy="4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Compromises local access points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3614313" y="3926306"/>
            <a:ext cx="1990472" cy="630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Internal Lateral Movement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14313" y="4641858"/>
            <a:ext cx="1990472" cy="4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Spreads between compromised hosts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433987" y="5739636"/>
            <a:ext cx="1947890" cy="63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Brute Force Logins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433987" y="6455187"/>
            <a:ext cx="1947890" cy="61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Attempts credentials on internal hosts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489779" y="4073342"/>
            <a:ext cx="1990470" cy="315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SMTP Flood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8489779" y="4473698"/>
            <a:ext cx="1990470" cy="41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Overwhelms mail servers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009465" y="1816909"/>
            <a:ext cx="2001117" cy="630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IoT Botnet DDoS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009465" y="2532461"/>
            <a:ext cx="2001117" cy="617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Targets edge devices and core routers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029967" y="7532608"/>
            <a:ext cx="8054102" cy="214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Understanding these vectors informs placement of controls at edge, distribution, and core layers.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545612" y="779502"/>
            <a:ext cx="6404491" cy="1015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Problems with Existing Solutions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545612" y="1988344"/>
            <a:ext cx="3116342" cy="1796177"/>
          </a:xfrm>
          <a:prstGeom prst="roundRect">
            <a:avLst>
              <a:gd name="adj" fmla="val 4512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761353" y="2204085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High Cost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761353" y="2693313"/>
            <a:ext cx="2684859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Proprietary appliances create CAPEX/OPEX pressure at ISP scale.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833761" y="1988344"/>
            <a:ext cx="3116342" cy="1796177"/>
          </a:xfrm>
          <a:prstGeom prst="roundRect">
            <a:avLst>
              <a:gd name="adj" fmla="val 4512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9502" y="2204085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Complexity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049502" y="2693313"/>
            <a:ext cx="2684859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Siloed tools and inconsistent policies across domains.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45612" y="3956328"/>
            <a:ext cx="3116342" cy="1796177"/>
          </a:xfrm>
          <a:prstGeom prst="roundRect">
            <a:avLst>
              <a:gd name="adj" fmla="val 4512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61353" y="4172069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Vendor Lock‑in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761353" y="4661297"/>
            <a:ext cx="2684859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Limited interoperability and upgrade friction.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833761" y="3956328"/>
            <a:ext cx="3116342" cy="1796177"/>
          </a:xfrm>
          <a:prstGeom prst="roundRect">
            <a:avLst>
              <a:gd name="adj" fmla="val 4512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9502" y="4172069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Single Point Failure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49502" y="4661297"/>
            <a:ext cx="2684859" cy="875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Monolithic designs risk broad outages under failure or attack.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545612" y="5924312"/>
            <a:ext cx="6404491" cy="1504355"/>
          </a:xfrm>
          <a:prstGeom prst="roundRect">
            <a:avLst>
              <a:gd name="adj" fmla="val 5387"/>
            </a:avLst>
          </a:prstGeom>
          <a:solidFill>
            <a:srgbClr val="FFFFFF"/>
          </a:solidFill>
          <a:ln w="22860">
            <a:solidFill>
              <a:srgbClr val="DFB8B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1353" y="6140053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Poor Scalability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761353" y="6629281"/>
            <a:ext cx="5973008" cy="58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Solutions that don’t scale horizontally fail under real traffic growth.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234916"/>
            <a:ext cx="10011727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Proposed Solution — Principles at a Glance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58309" y="2238256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We propose a modular, ISP‑grade architecture that is scalable, resilient, and observable. Key building blocks: a 3‑tier topology, redundant control planes, secure NAT boundaries, and a SOC‑driven detection loop.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309" y="3175397"/>
            <a:ext cx="4226838" cy="1974652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2504" y="33995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3‑Tier Architecture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2504" y="3885724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Access • Distribution • Core separation for predictable scaling.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201722" y="3175397"/>
            <a:ext cx="4226838" cy="1974652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5916" y="3399592"/>
            <a:ext cx="297156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HSRP &amp; Redundancy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25916" y="3885724"/>
            <a:ext cx="37784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Active/standby mechanisms and multi‑path failover for zero downtime.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645134" y="3175397"/>
            <a:ext cx="4226957" cy="1974652"/>
          </a:xfrm>
          <a:prstGeom prst="roundRect">
            <a:avLst>
              <a:gd name="adj" fmla="val 4608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69329" y="33995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OSPF Routing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69329" y="3885724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Fast convergence and load sharing across ISP fabric.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8309" y="5366623"/>
            <a:ext cx="6448544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504" y="55908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NAT + Firewalling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2504" y="6076950"/>
            <a:ext cx="600015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Stateful edge controls with dynamic ACLs and address hygiene.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23428" y="5366623"/>
            <a:ext cx="6448663" cy="1627942"/>
          </a:xfrm>
          <a:prstGeom prst="roundRect">
            <a:avLst>
              <a:gd name="adj" fmla="val 5590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47623" y="55908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SOC Monitoring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47623" y="6076950"/>
            <a:ext cx="6000274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Centralized telemetry, anomaly detection, and automated response.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147006" y="1874169"/>
            <a:ext cx="6970395" cy="94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Methodology — Operational Controls</a:t>
            </a:r>
            <a:endParaRPr lang="en-US" sz="2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62757" y="2631400"/>
            <a:ext cx="7007409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These core practices are enforced via automated policy pipelines and continuous validation tests.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267" y="4267319"/>
            <a:ext cx="448508" cy="4485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9267" y="4901446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Defense in Depth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99267" y="5285542"/>
            <a:ext cx="6423065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Layered controls at edge, distribution, and host levels to reduce blast radius.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07950" y="4267319"/>
            <a:ext cx="448508" cy="4485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07950" y="4901446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Segmentation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407950" y="5285542"/>
            <a:ext cx="6423065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Micro‑segmentation and VLAN/VRF separation to isolate workloads and tenants.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267" y="6107192"/>
            <a:ext cx="448508" cy="4485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99267" y="6741319"/>
            <a:ext cx="236077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Redundancy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799267" y="7125414"/>
            <a:ext cx="6423065" cy="262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HSRP, ECMP, and redundant links to eliminate single points of failure.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07950" y="6107192"/>
            <a:ext cx="448508" cy="4485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407950" y="6741319"/>
            <a:ext cx="248019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Logging &amp; Telemetry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407950" y="7125414"/>
            <a:ext cx="6423065" cy="524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High‑fidelity flow records, packet captures, and SIEM ingestion for forensic and ML analytics.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5131" y="555069"/>
            <a:ext cx="6478429" cy="4543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Architecture Overview — Topology</a:t>
            </a:r>
            <a:endParaRPr lang="en-US" sz="2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31" y="1284565"/>
            <a:ext cx="12540020" cy="57389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30773" y="1848582"/>
            <a:ext cx="3057571" cy="730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Access &amp; Server Farm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230773" y="2677317"/>
            <a:ext cx="3057571" cy="49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CPE, access switches, firewalls, load balancers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41624" y="3792891"/>
            <a:ext cx="2810993" cy="36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22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Distribution Layer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41624" y="4256574"/>
            <a:ext cx="2810993" cy="74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Aggregation routers, DDoS scrubbing appliances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230773" y="4891320"/>
            <a:ext cx="2919834" cy="365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Core Layer</a:t>
            </a:r>
            <a:endParaRPr lang="en-US"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230773" y="5355003"/>
            <a:ext cx="3057571" cy="4981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High‑capacity routers, peering, SOC taps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45131" y="7178159"/>
            <a:ext cx="12540020" cy="496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Labels: Access, Distribution, Core, Server Farm. Include scrubbing points, peering exchanges, and SOC telemetry taps. Designed for horizontal scaling and predictable traffic engineering.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839276" y="2134553"/>
            <a:ext cx="5346621" cy="801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High Availability — HSRP Failover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276" y="3056811"/>
            <a:ext cx="5346621" cy="23055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99107" y="4921080"/>
            <a:ext cx="1276700" cy="159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Failover: VIP Moves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2199107" y="4387388"/>
            <a:ext cx="1276700" cy="159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Heartbeat Lost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199107" y="3859086"/>
            <a:ext cx="1276700" cy="159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Standby Ready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199107" y="3325394"/>
            <a:ext cx="1276700" cy="159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Primary Forwards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839276" y="5482828"/>
            <a:ext cx="5346621" cy="622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Outcome:</a:t>
            </a:r>
            <a:r>
              <a:rPr lang="en-US" sz="115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 Zero downtime routing for critical prefixes through rapid failover. Combine HSRP with ECMP and BFD for sub‑second convergence under link or device failure.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32A066-732D-43A4-A191-D73DFFD8F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5728" y="42566"/>
            <a:ext cx="7084672" cy="818703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29430" y="527209"/>
            <a:ext cx="6951583" cy="481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1F1E1E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Operational Summary &amp; Next Steps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629430" y="1239560"/>
            <a:ext cx="182761" cy="1096804"/>
          </a:xfrm>
          <a:prstGeom prst="roundRect">
            <a:avLst>
              <a:gd name="adj" fmla="val 4201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966377" y="1422321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Validate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966377" y="1815465"/>
            <a:ext cx="7527608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Run synthetic transactions, failure injection, and routing convergence tests.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903631" y="2490549"/>
            <a:ext cx="182761" cy="1096804"/>
          </a:xfrm>
          <a:prstGeom prst="roundRect">
            <a:avLst>
              <a:gd name="adj" fmla="val 4201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0578" y="267331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Deploy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2240578" y="3066455"/>
            <a:ext cx="7253407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Roll out in phased stages: pilot, regional expansion, full fabric cutover.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177832" y="3741539"/>
            <a:ext cx="182761" cy="1096804"/>
          </a:xfrm>
          <a:prstGeom prst="roundRect">
            <a:avLst>
              <a:gd name="adj" fmla="val 4201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14779" y="392430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Observe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514779" y="4317444"/>
            <a:ext cx="6979206" cy="269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Continuously monitor telemetry, tune ML detectors, and refine playbooks.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2452033" y="4992529"/>
            <a:ext cx="182761" cy="1297781"/>
          </a:xfrm>
          <a:prstGeom prst="roundRect">
            <a:avLst>
              <a:gd name="adj" fmla="val 42011"/>
            </a:avLst>
          </a:prstGeom>
          <a:solidFill>
            <a:srgbClr val="F9D2D6"/>
          </a:solidFill>
          <a:ln w="7620">
            <a:solidFill>
              <a:srgbClr val="DFB8B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88980" y="5175290"/>
            <a:ext cx="2405301" cy="30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Times New Roman" panose="02020603050405020304" pitchFamily="18" charset="0"/>
                <a:ea typeface="Sora Semi Bold" pitchFamily="34" charset="-122"/>
                <a:cs typeface="Times New Roman" panose="02020603050405020304" pitchFamily="18" charset="0"/>
              </a:rPr>
              <a:t>Iterate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88980" y="5568434"/>
            <a:ext cx="6705005" cy="539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Times New Roman" panose="02020603050405020304" pitchFamily="18" charset="0"/>
                <a:ea typeface="Sora Light" pitchFamily="34" charset="-122"/>
                <a:cs typeface="Times New Roman" panose="02020603050405020304" pitchFamily="18" charset="0"/>
              </a:rPr>
              <a:t>Periodic red team exercises and capacity planning to stay ahead of threats.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79860" y="822840"/>
            <a:ext cx="7655481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Security Design: Layered Perimeter</a:t>
            </a:r>
            <a:endParaRPr lang="en-US" sz="4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260" y="3305294"/>
            <a:ext cx="531614" cy="531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25072" y="3305294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ACL Protection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525072" y="3757136"/>
            <a:ext cx="687466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filtering at edge and internal routers to enforce least-privilege access and block unauthorized flows.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260" y="4814888"/>
            <a:ext cx="531614" cy="531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25072" y="481488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NAT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525072" y="5266730"/>
            <a:ext cx="687466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address translation to hide internal IPs and reduce external attack surface.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260" y="6324481"/>
            <a:ext cx="531614" cy="531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25072" y="6324481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Zone Isolation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525072" y="6776323"/>
            <a:ext cx="687466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Network segmentation (DMZ, production, management) with dedicated controls and micro-segmentation where needed.</a:t>
            </a:r>
            <a:endParaRPr lang="en-US" sz="16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6D4F4D-1264-49BB-AC83-8D205120F9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0941" y="1927421"/>
            <a:ext cx="4258269" cy="484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11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8915" y="523994"/>
            <a:ext cx="7232333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Attack Simulation — Attack vs Defense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1733" y="1267658"/>
            <a:ext cx="9766697" cy="5381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70104" y="2018448"/>
            <a:ext cx="1844816" cy="31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Attacks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2670104" y="2424814"/>
            <a:ext cx="1844816" cy="86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SMTP flood, FTP brute force, ICMP flood targeting services.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05611" y="3593291"/>
            <a:ext cx="1844816" cy="31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Defenses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05611" y="3999656"/>
            <a:ext cx="1844816" cy="869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ACL blocking, rate-limit, NAT, zone isolation protect infrastructure.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2431733" y="7103985"/>
            <a:ext cx="11249144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5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Visual simulation of common volumetric and credential attacks and how layered controls—especially ACLs—intercept them.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220278" y="7294602"/>
            <a:ext cx="10556438" cy="224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5575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376" y="904426"/>
            <a:ext cx="8345924" cy="583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SOC Monitoring: Real‑time Visibility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19376" y="1890117"/>
            <a:ext cx="131916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Centralized monitoring that turns telemetry into prioritized action: logs ingested, alerts triaged, metrics visualized.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376" y="2622709"/>
            <a:ext cx="886182" cy="11076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8325" y="2622709"/>
            <a:ext cx="193714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Logs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838325" y="3130034"/>
            <a:ext cx="1937147" cy="156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Normalized, retained, and searchable across hosts and network devices for forensic timelines.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239" y="2622709"/>
            <a:ext cx="886301" cy="11078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27307" y="2622709"/>
            <a:ext cx="193714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Alerts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5127307" y="3130034"/>
            <a:ext cx="1937147" cy="1253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Severity-driven alerts with playbooks for rapid containment and escalation.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376" y="5070038"/>
            <a:ext cx="886182" cy="110763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38325" y="5070038"/>
            <a:ext cx="1937147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Graphs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838325" y="5577364"/>
            <a:ext cx="1937147" cy="1567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Trend dashboards for traffic, anomalies, and SLA metrics to guide operational decisions.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127307" y="4997550"/>
            <a:ext cx="3246715" cy="321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SOC Design Considerations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127307" y="5737762"/>
            <a:ext cx="6345079" cy="1070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Centralized SIEM with tiered retention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Automated alert enrichment and playbooks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50"/>
              </a:lnSpc>
              <a:buSzPct val="100000"/>
              <a:buChar char="•"/>
            </a:pPr>
            <a:r>
              <a:rPr lang="en-US" sz="16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Dedicated analyst queues and threat hunting cadence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851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06993" y="622459"/>
            <a:ext cx="5863471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Why This Solution Is Best</a:t>
            </a:r>
            <a:endParaRPr lang="en-US" sz="3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06993" y="1523524"/>
            <a:ext cx="3774996" cy="2545080"/>
          </a:xfrm>
          <a:prstGeom prst="roundRect">
            <a:avLst>
              <a:gd name="adj" fmla="val 33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6543" y="1733074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1B27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3231" y="1899642"/>
            <a:ext cx="272653" cy="27265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6543" y="251900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Cost-effective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916543" y="2942511"/>
            <a:ext cx="335589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Optimized use of open standards and vendor-neutral tooling lowers total cost of ownership.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661892" y="1523524"/>
            <a:ext cx="3775115" cy="2545080"/>
          </a:xfrm>
          <a:prstGeom prst="roundRect">
            <a:avLst>
              <a:gd name="adj" fmla="val 33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71442" y="1733074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1B27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38130" y="1899642"/>
            <a:ext cx="272653" cy="27265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71442" y="251900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Scalable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871442" y="2942511"/>
            <a:ext cx="3356015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Modular controls and automation scale with traffic and cloud workloads without redesign.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06993" y="4248507"/>
            <a:ext cx="3774996" cy="2545080"/>
          </a:xfrm>
          <a:prstGeom prst="roundRect">
            <a:avLst>
              <a:gd name="adj" fmla="val 33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16543" y="4458057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1B27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3231" y="4624626"/>
            <a:ext cx="272653" cy="27265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6543" y="524398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Secure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916543" y="5667494"/>
            <a:ext cx="3355896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Defense-in-depth, segmentation, and proactive monitoring reduce mean time to detect and respond.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4661892" y="4248507"/>
            <a:ext cx="3775115" cy="2545080"/>
          </a:xfrm>
          <a:prstGeom prst="roundRect">
            <a:avLst>
              <a:gd name="adj" fmla="val 333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871442" y="4458057"/>
            <a:ext cx="606028" cy="606028"/>
          </a:xfrm>
          <a:prstGeom prst="roundRect">
            <a:avLst>
              <a:gd name="adj" fmla="val 15086903"/>
            </a:avLst>
          </a:prstGeom>
          <a:solidFill>
            <a:srgbClr val="1B1B27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8130" y="4624626"/>
            <a:ext cx="272653" cy="27265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71442" y="5243989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Vendor‑neutral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4871442" y="5667494"/>
            <a:ext cx="3356015" cy="916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Standards-based integrations avoid lock-in and simplify multi-vendor orchestration.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706993" y="6995993"/>
            <a:ext cx="77300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135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334703" y="467558"/>
            <a:ext cx="5726787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Future Improvements Roadmap</a:t>
            </a:r>
            <a:endParaRPr lang="en-US" sz="3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4703" y="1115497"/>
            <a:ext cx="8052435" cy="347817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56239" y="3704832"/>
            <a:ext cx="1195632" cy="21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SDN Adoption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256239" y="3984535"/>
            <a:ext cx="1195632" cy="29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Programmatic network control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8326314" y="3704832"/>
            <a:ext cx="1195632" cy="217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AI Security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8326314" y="3984535"/>
            <a:ext cx="1195632" cy="29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Behavioral analytics and ML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725013" y="1429345"/>
            <a:ext cx="1195632" cy="43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Near-term Automation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725013" y="1926809"/>
            <a:ext cx="1195632" cy="29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Automate routine detection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811932" y="1429345"/>
            <a:ext cx="1195632" cy="21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Zero Trust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9811932" y="1709047"/>
            <a:ext cx="1195632" cy="29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Least-privilege enforcement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810330" y="1429345"/>
            <a:ext cx="1195633" cy="435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Cloud Integration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810330" y="1926809"/>
            <a:ext cx="1195633" cy="293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Native telemetry and ops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334703" y="4714280"/>
            <a:ext cx="8052435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Planned evolution to improve detection, reduce human toil, and enable secure cloud-native operations.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3334703" y="5128260"/>
            <a:ext cx="77867" cy="77867"/>
          </a:xfrm>
          <a:prstGeom prst="roundRect">
            <a:avLst>
              <a:gd name="adj" fmla="val 587155"/>
            </a:avLst>
          </a:prstGeom>
          <a:solidFill>
            <a:srgbClr val="1B1B27"/>
          </a:solidFill>
          <a:ln/>
        </p:spPr>
      </p:sp>
      <p:sp>
        <p:nvSpPr>
          <p:cNvPr id="18" name="Text 14"/>
          <p:cNvSpPr/>
          <p:nvPr/>
        </p:nvSpPr>
        <p:spPr>
          <a:xfrm>
            <a:off x="3519726" y="504539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AI Security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3519726" y="5353288"/>
            <a:ext cx="786741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Behavioral analytics and ML-assisted triage to reduce false positives.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3334703" y="5860971"/>
            <a:ext cx="77867" cy="77867"/>
          </a:xfrm>
          <a:prstGeom prst="roundRect">
            <a:avLst>
              <a:gd name="adj" fmla="val 587155"/>
            </a:avLst>
          </a:prstGeom>
          <a:solidFill>
            <a:srgbClr val="1B1B27"/>
          </a:solidFill>
          <a:ln/>
        </p:spPr>
      </p:sp>
      <p:sp>
        <p:nvSpPr>
          <p:cNvPr id="21" name="Text 17"/>
          <p:cNvSpPr/>
          <p:nvPr/>
        </p:nvSpPr>
        <p:spPr>
          <a:xfrm>
            <a:off x="3519726" y="5778103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Cloud Integration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3519726" y="6085999"/>
            <a:ext cx="786741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Native telemetry collection, policy-as-code, and workload-aware controls.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3334703" y="6593681"/>
            <a:ext cx="77867" cy="77867"/>
          </a:xfrm>
          <a:prstGeom prst="roundRect">
            <a:avLst>
              <a:gd name="adj" fmla="val 587155"/>
            </a:avLst>
          </a:prstGeom>
          <a:solidFill>
            <a:srgbClr val="1B1B27"/>
          </a:solidFill>
          <a:ln/>
        </p:spPr>
      </p:sp>
      <p:sp>
        <p:nvSpPr>
          <p:cNvPr id="24" name="Text 20"/>
          <p:cNvSpPr/>
          <p:nvPr/>
        </p:nvSpPr>
        <p:spPr>
          <a:xfrm>
            <a:off x="3519726" y="6510814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SDN &amp; Automation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3519726" y="6818709"/>
            <a:ext cx="786741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Programmatic micro-segmentation and automated remediation playbooks.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3334703" y="7326392"/>
            <a:ext cx="77867" cy="77867"/>
          </a:xfrm>
          <a:prstGeom prst="roundRect">
            <a:avLst>
              <a:gd name="adj" fmla="val 587155"/>
            </a:avLst>
          </a:prstGeom>
          <a:solidFill>
            <a:srgbClr val="1B1B27"/>
          </a:solidFill>
          <a:ln/>
        </p:spPr>
      </p:sp>
      <p:sp>
        <p:nvSpPr>
          <p:cNvPr id="27" name="Text 23"/>
          <p:cNvSpPr/>
          <p:nvPr/>
        </p:nvSpPr>
        <p:spPr>
          <a:xfrm>
            <a:off x="3519726" y="7243524"/>
            <a:ext cx="1949291" cy="243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Zero Trust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3519726" y="7551420"/>
            <a:ext cx="7867412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Continuous authentication, least-privilege access, and device posture checks.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957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063" y="451247"/>
            <a:ext cx="7419975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Socio‑Economic Impact: Human‑Centric Security</a:t>
            </a:r>
            <a:endParaRPr lang="en-US" sz="2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063" y="1059894"/>
            <a:ext cx="3895725" cy="38957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14210" y="2842260"/>
            <a:ext cx="4832628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1063" y="5126117"/>
            <a:ext cx="327779" cy="3277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91063" y="5548551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Education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791063" y="5798939"/>
            <a:ext cx="4476750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Secure digital classrooms and protected student data enable scalable learning initiatives.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2468" y="5126117"/>
            <a:ext cx="327779" cy="32777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62468" y="5548551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Healthcare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362468" y="5798939"/>
            <a:ext cx="4476869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Protected EHRs and resilient networks ensure continuity of care and patient privacy.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91063" y="6281499"/>
            <a:ext cx="327779" cy="32777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91063" y="6703933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Business Growth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2791063" y="6954322"/>
            <a:ext cx="4476750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Trusted infrastructure lowers risk, unlocking digital transformation and new markets.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2468" y="6281499"/>
            <a:ext cx="327779" cy="32777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362468" y="6703933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Smart Cities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7362468" y="6954322"/>
            <a:ext cx="4476869" cy="330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Secure IoT and transport systems improve safety and economic opportunity for citizens.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1"/>
          <p:cNvSpPr/>
          <p:nvPr/>
        </p:nvSpPr>
        <p:spPr>
          <a:xfrm>
            <a:off x="3217069" y="7479030"/>
            <a:ext cx="8491180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939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18279" y="583525"/>
            <a:ext cx="7173516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Conclusion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18279" y="1364218"/>
            <a:ext cx="7878842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Our architecture delivers a reliable, secure, and scalable foundation—designed for modern threats and future growth.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18279" y="2045732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4141" y="2452330"/>
            <a:ext cx="271105" cy="2711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85173" y="2226469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Reliable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385173" y="2595205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Redundancy and monitoring ensure continuous protection.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18279" y="3274100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141" y="3680698"/>
            <a:ext cx="271105" cy="27110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85173" y="3454837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Secure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385173" y="3823573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Layered controls and segmentation minimize risk.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18279" y="4502468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4141" y="4909066"/>
            <a:ext cx="271105" cy="2711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85173" y="4683204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Scalable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1385173" y="5051941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Modular components grow with your environment.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95419" y="5730835"/>
            <a:ext cx="722948" cy="1084421"/>
          </a:xfrm>
          <a:prstGeom prst="roundRect">
            <a:avLst>
              <a:gd name="adj" fmla="val 3600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141" y="6137434"/>
            <a:ext cx="271105" cy="27110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85173" y="5911572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Future-ready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/>
          <p:nvPr/>
        </p:nvSpPr>
        <p:spPr>
          <a:xfrm>
            <a:off x="1385173" y="6280309"/>
            <a:ext cx="7011948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C3939"/>
                </a:solidFill>
                <a:latin typeface="Times New Roman" panose="02020603050405020304" pitchFamily="18" charset="0"/>
                <a:ea typeface="Roboto" pitchFamily="34" charset="-122"/>
                <a:cs typeface="Times New Roman" panose="02020603050405020304" pitchFamily="18" charset="0"/>
              </a:rPr>
              <a:t>Roadmap includes AI, SDN, automation, and Zero Trust adoption.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6706314" y="7166253"/>
            <a:ext cx="7110770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9010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1197</Words>
  <Application>Microsoft Office PowerPoint</Application>
  <PresentationFormat>Custom</PresentationFormat>
  <Paragraphs>187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Times New Roman</vt:lpstr>
      <vt:lpstr>Sora Light</vt:lpstr>
      <vt:lpstr>Calibri</vt:lpstr>
      <vt:lpstr>Wingdings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lastModifiedBy>Binoy Dev</cp:lastModifiedBy>
  <cp:revision>6</cp:revision>
  <dcterms:created xsi:type="dcterms:W3CDTF">2026-04-21T17:47:15Z</dcterms:created>
  <dcterms:modified xsi:type="dcterms:W3CDTF">2026-04-22T13:54:55Z</dcterms:modified>
</cp:coreProperties>
</file>